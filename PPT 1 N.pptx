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70" r:id="rId14"/>
    <p:sldId id="265" r:id="rId15"/>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FAC537-2AF5-4EC8-A808-D9B3E16E4B4D}" v="38" dt="2026-03-08T17:58:40.5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1" d="100"/>
          <a:sy n="51" d="100"/>
        </p:scale>
        <p:origin x="898"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036D54-67D6-4073-88C1-04EA861B9509}" type="datetimeFigureOut">
              <a:rPr lang="en-IN" smtClean="0"/>
              <a:t>06-05-2026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F40304-61EE-4800-80D3-9780B9973EA0}" type="slidenum">
              <a:rPr lang="en-IN" smtClean="0"/>
              <a:t>‹#›</a:t>
            </a:fld>
            <a:endParaRPr lang="en-IN"/>
          </a:p>
        </p:txBody>
      </p:sp>
    </p:spTree>
    <p:extLst>
      <p:ext uri="{BB962C8B-B14F-4D97-AF65-F5344CB8AC3E}">
        <p14:creationId xmlns:p14="http://schemas.microsoft.com/office/powerpoint/2010/main" val="32565187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09-03-2026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US" sz="3200" b="1" dirty="0">
                <a:solidFill>
                  <a:srgbClr val="0033CC"/>
                </a:solidFill>
                <a:latin typeface="Times New Roman" panose="02020603050405020304" pitchFamily="18" charset="0"/>
                <a:cs typeface="Times New Roman" panose="02020603050405020304" pitchFamily="18" charset="0"/>
              </a:rPr>
              <a:t>REAL TIME EVENT SYNCHRONIZATION ENGINE</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P.NUTHAN KUMAR  – VTU26673 – 23UECS0455</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err="1">
                <a:latin typeface="Cambria" panose="02040503050406030204" pitchFamily="18" charset="0"/>
                <a:ea typeface="Cambria" panose="02040503050406030204" pitchFamily="18" charset="0"/>
              </a:rPr>
              <a:t>Dr.S.HEMAMALINI-M.E,Ph.D</a:t>
            </a:r>
            <a:r>
              <a:rPr lang="en-US" sz="3000" dirty="0">
                <a:latin typeface="Cambria" panose="02040503050406030204" pitchFamily="18" charset="0"/>
                <a:ea typeface="Cambria" panose="02040503050406030204" pitchFamily="18" charset="0"/>
              </a:rPr>
              <a:t>.,</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4 </a:t>
            </a:r>
            <a:r>
              <a:rPr lang="en-US" sz="2000" b="1">
                <a:latin typeface="Cambria" panose="02040503050406030204" pitchFamily="18" charset="0"/>
                <a:ea typeface="Cambria" panose="02040503050406030204" pitchFamily="18" charset="0"/>
              </a:rPr>
              <a:t>Quality Education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184470" y="1952203"/>
            <a:ext cx="15082325" cy="6001643"/>
          </a:xfrm>
          <a:prstGeom prst="rect">
            <a:avLst/>
          </a:prstGeom>
          <a:noFill/>
        </p:spPr>
        <p:txBody>
          <a:bodyPr wrap="square" rtlCol="0">
            <a:spAutoFit/>
          </a:bodyPr>
          <a:lstStyle/>
          <a:p>
            <a:pPr algn="just"/>
            <a:r>
              <a:rPr lang="en-US" sz="3200" dirty="0"/>
              <a:t>In many modern applications, users work simultaneously on shared data, making real-time synchronization a crucial requirement. Traditional web systems often require manual page refreshes to view updates, which leads to delays and inconsistent information. This project addresses the problem by providing a system where event updates are instantly reflected across all connected users. The </a:t>
            </a:r>
            <a:r>
              <a:rPr lang="en-US" sz="3200" b="1" dirty="0"/>
              <a:t>Real-Time Event Synchronization Engine</a:t>
            </a:r>
            <a:r>
              <a:rPr lang="en-US" sz="3200" dirty="0"/>
              <a:t> ensures that whenever an event is created, modified, or deleted, the changes are automatically synchronized in real time. This improves collaboration, efficiency, and user experience. Such systems are widely used in applications like collaborative tools, live dashboards, shared calendars, and online platforms. The system is built using technologies like Node.js, Express.js, and MongoDB to manage and synchronize event data effectively. Overall, this project demonstrates how real-time communication can enhance modern web applications.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523220"/>
          </a:xfrm>
          <a:prstGeom prst="rect">
            <a:avLst/>
          </a:prstGeom>
          <a:noFill/>
        </p:spPr>
        <p:txBody>
          <a:bodyPr wrap="square" rtlCol="0">
            <a:spAutoFit/>
          </a:bodyPr>
          <a:lstStyle/>
          <a:p>
            <a:pPr marL="457200" indent="-457200">
              <a:buFontTx/>
              <a:buChar char="-"/>
            </a:pPr>
            <a:endParaRPr lang="en-IN" sz="2800" dirty="0"/>
          </a:p>
        </p:txBody>
      </p:sp>
      <p:sp>
        <p:nvSpPr>
          <p:cNvPr id="4" name="Rectangle 3">
            <a:extLst>
              <a:ext uri="{FF2B5EF4-FFF2-40B4-BE49-F238E27FC236}">
                <a16:creationId xmlns:a16="http://schemas.microsoft.com/office/drawing/2014/main" id="{793E4812-A306-2A56-94F5-F6D6775D48C6}"/>
              </a:ext>
            </a:extLst>
          </p:cNvPr>
          <p:cNvSpPr>
            <a:spLocks noChangeArrowheads="1"/>
          </p:cNvSpPr>
          <p:nvPr/>
        </p:nvSpPr>
        <p:spPr bwMode="auto">
          <a:xfrm rot="10800000" flipV="1">
            <a:off x="1750709" y="2753946"/>
            <a:ext cx="15654937"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Many existing systems do not provide real-time updates when multiple users work on the same data.</a:t>
            </a:r>
          </a:p>
          <a:p>
            <a:pPr marL="457200" marR="0" lvl="0" indent="-4572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Users must manually refresh the page to see changes made by others.</a:t>
            </a:r>
          </a:p>
          <a:p>
            <a:pPr marL="457200" marR="0" lvl="0" indent="-4572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This creates delays and inconsistent information across different users.</a:t>
            </a:r>
          </a:p>
          <a:p>
            <a:pPr marL="457200" marR="0" lvl="0" indent="-4572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Managing events becomes difficult when updates are not instantly synchronized.</a:t>
            </a:r>
          </a:p>
          <a:p>
            <a:pPr marL="457200" marR="0" lvl="0" indent="-4572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Lack of real-time communication reduces collaboration efficiency.</a:t>
            </a:r>
          </a:p>
          <a:p>
            <a:pPr marL="457200" marR="0" lvl="0" indent="-4572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It may also lead to data conflicts when multiple users modify events simultaneously.</a:t>
            </a:r>
          </a:p>
          <a:p>
            <a:pPr marL="457200" marR="0" lvl="0" indent="-4572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Therefore, there is a need for a system that automatically synchronizes event updates in real time.</a:t>
            </a:r>
          </a:p>
          <a:p>
            <a:pPr marL="457200" marR="0" lvl="0" indent="-4572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A Real-Time Event Synchronization Engine can solve this problem by ensuring instant updates and better data consistency.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2" name="Rectangle 1">
            <a:extLst>
              <a:ext uri="{FF2B5EF4-FFF2-40B4-BE49-F238E27FC236}">
                <a16:creationId xmlns:a16="http://schemas.microsoft.com/office/drawing/2014/main" id="{25D069FA-122B-7C24-7496-9D2120C28E0B}"/>
              </a:ext>
            </a:extLst>
          </p:cNvPr>
          <p:cNvSpPr>
            <a:spLocks noChangeArrowheads="1"/>
          </p:cNvSpPr>
          <p:nvPr/>
        </p:nvSpPr>
        <p:spPr bwMode="auto">
          <a:xfrm rot="10800000" flipV="1">
            <a:off x="1794863" y="2417691"/>
            <a:ext cx="16493137"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Arial" panose="020B0604020202020204" pitchFamily="34" charset="0"/>
              </a:rPr>
              <a:t>To design and develop</a:t>
            </a:r>
            <a:r>
              <a:rPr kumimoji="0" lang="en-US" altLang="en-US" sz="3200" b="0" i="0" u="none" strike="noStrike" cap="none" normalizeH="0" baseline="0" dirty="0">
                <a:ln>
                  <a:noFill/>
                </a:ln>
                <a:solidFill>
                  <a:schemeClr val="tx1"/>
                </a:solidFill>
                <a:effectLst/>
                <a:latin typeface="Arial" panose="020B0604020202020204" pitchFamily="34" charset="0"/>
              </a:rPr>
              <a:t> a real-time event synchronization system that allows multiple users to create, update, and manage events simultaneously.</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Arial" panose="020B0604020202020204" pitchFamily="34" charset="0"/>
              </a:rPr>
              <a:t>To implement</a:t>
            </a:r>
            <a:r>
              <a:rPr kumimoji="0" lang="en-US" altLang="en-US" sz="3200" b="0" i="0" u="none" strike="noStrike" cap="none" normalizeH="0" baseline="0" dirty="0">
                <a:ln>
                  <a:noFill/>
                </a:ln>
                <a:solidFill>
                  <a:schemeClr val="tx1"/>
                </a:solidFill>
                <a:effectLst/>
                <a:latin typeface="Arial" panose="020B0604020202020204" pitchFamily="34" charset="0"/>
              </a:rPr>
              <a:t> instant data synchronization so that all event changes are automatically updated across connected clients without page refresh.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5163422" y="9440882"/>
            <a:ext cx="12128703" cy="523220"/>
          </a:xfrm>
          <a:prstGeom prst="rect">
            <a:avLst/>
          </a:prstGeom>
          <a:noFill/>
        </p:spPr>
        <p:txBody>
          <a:bodyPr wrap="square" rtlCol="0">
            <a:spAutoFit/>
          </a:bodyPr>
          <a:lstStyle/>
          <a:p>
            <a:pPr marL="457200" indent="-457200">
              <a:buFontTx/>
              <a:buChar char="-"/>
            </a:pPr>
            <a:endParaRPr lang="en-IN" sz="2800" dirty="0"/>
          </a:p>
        </p:txBody>
      </p:sp>
      <p:sp>
        <p:nvSpPr>
          <p:cNvPr id="2" name="Rectangle 1">
            <a:extLst>
              <a:ext uri="{FF2B5EF4-FFF2-40B4-BE49-F238E27FC236}">
                <a16:creationId xmlns:a16="http://schemas.microsoft.com/office/drawing/2014/main" id="{54CC734F-61EA-8EB3-A5A9-AC1BE74EB1C2}"/>
              </a:ext>
            </a:extLst>
          </p:cNvPr>
          <p:cNvSpPr>
            <a:spLocks noChangeArrowheads="1"/>
          </p:cNvSpPr>
          <p:nvPr/>
        </p:nvSpPr>
        <p:spPr bwMode="auto">
          <a:xfrm rot="10800000" flipV="1">
            <a:off x="1794862" y="1760759"/>
            <a:ext cx="14969137" cy="7478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The system provides a real-time platform where multiple users can create, update, and delete events simultaneously.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It uses WebSocket-based communication to instantly synchronize data between the server and all connected clients.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Whenever an event is modified by one user, the update is automatically broadcast to all other users in real 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The system stores event data securely in a database to maintain consistency and reliability.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This solution eliminates the need for manual page refresh to view updates.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It improves collaboration by ensuring that all users always see the latest event information.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The system reduces data conflicts that occur when multiple users work on the same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Compared to traditional systems, it provides faster updates, better efficiency, and an improved user experience.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3657600" y="-5709302"/>
            <a:ext cx="15082325" cy="8279190"/>
          </a:xfrm>
          <a:prstGeom prst="rect">
            <a:avLst/>
          </a:prstGeom>
          <a:noFill/>
        </p:spPr>
        <p:txBody>
          <a:bodyPr wrap="square" rtlCol="0">
            <a:spAutoFit/>
          </a:bodyPr>
          <a:lstStyle/>
          <a:p>
            <a:pPr marL="457200" indent="-457200">
              <a:buFontTx/>
              <a:buChar char="-"/>
            </a:pPr>
            <a:r>
              <a:rPr lang="en-US" sz="2800" dirty="0"/>
              <a:t>(Insert block diagram)  -</a:t>
            </a:r>
          </a:p>
          <a:p>
            <a:pPr marL="457200" indent="-457200">
              <a:buFontTx/>
              <a:buChar char="-"/>
            </a:pPr>
            <a:endParaRPr lang="en-US" sz="2800" dirty="0"/>
          </a:p>
          <a:p>
            <a:pPr marL="457200" indent="-457200">
              <a:buFontTx/>
              <a:buChar char="-"/>
            </a:pPr>
            <a:r>
              <a:rPr lang="en-US" sz="2800" dirty="0"/>
              <a:t>Explain:</a:t>
            </a:r>
          </a:p>
          <a:p>
            <a:pPr marL="1371600" lvl="2" indent="-457200">
              <a:buFont typeface="Wingdings" panose="05000000000000000000" pitchFamily="2" charset="2"/>
              <a:buChar char="Ø"/>
            </a:pPr>
            <a:r>
              <a:rPr lang="en-US" sz="2800" dirty="0"/>
              <a:t>Input</a:t>
            </a:r>
          </a:p>
          <a:p>
            <a:pPr marL="1371600" lvl="2" indent="-457200">
              <a:buFont typeface="Wingdings" panose="05000000000000000000" pitchFamily="2" charset="2"/>
              <a:buChar char="Ø"/>
            </a:pPr>
            <a:r>
              <a:rPr lang="en-US" sz="2800" dirty="0"/>
              <a:t>Processing</a:t>
            </a:r>
          </a:p>
          <a:p>
            <a:pPr marL="1371600" lvl="2" indent="-457200">
              <a:buFont typeface="Wingdings" panose="05000000000000000000" pitchFamily="2" charset="2"/>
              <a:buChar char="Ø"/>
            </a:pPr>
            <a:r>
              <a:rPr lang="en-US" sz="2800" dirty="0"/>
              <a:t>Database</a:t>
            </a:r>
          </a:p>
          <a:p>
            <a:pPr marL="1371600" lvl="2" indent="-457200">
              <a:buFont typeface="Wingdings" panose="05000000000000000000" pitchFamily="2" charset="2"/>
              <a:buChar char="Ø"/>
            </a:pPr>
            <a:r>
              <a:rPr lang="en-US" sz="2800" dirty="0"/>
              <a:t>Output</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28C7AE29-8B0D-E87E-F050-C134C3109370}"/>
              </a:ext>
            </a:extLst>
          </p:cNvPr>
          <p:cNvPicPr>
            <a:picLocks noChangeAspect="1"/>
          </p:cNvPicPr>
          <p:nvPr/>
        </p:nvPicPr>
        <p:blipFill>
          <a:blip r:embed="rId3"/>
          <a:stretch>
            <a:fillRect/>
          </a:stretch>
        </p:blipFill>
        <p:spPr>
          <a:xfrm>
            <a:off x="2590800" y="1291822"/>
            <a:ext cx="14745691" cy="849987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a:extLst>
              <a:ext uri="{FF2B5EF4-FFF2-40B4-BE49-F238E27FC236}">
                <a16:creationId xmlns:a16="http://schemas.microsoft.com/office/drawing/2014/main" id="{36A32239-80AF-3335-2765-5980AD79F8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57512" y="1243012"/>
            <a:ext cx="12372975" cy="78009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7417415"/>
          </a:xfrm>
          <a:prstGeom prst="rect">
            <a:avLst/>
          </a:prstGeom>
          <a:noFill/>
        </p:spPr>
        <p:txBody>
          <a:bodyPr wrap="square" rtlCol="0">
            <a:spAutoFit/>
          </a:bodyPr>
          <a:lstStyle/>
          <a:p>
            <a:r>
              <a:rPr lang="en-US" sz="2800">
                <a:solidFill>
                  <a:srgbClr val="0033CC"/>
                </a:solidFill>
              </a:rPr>
              <a:t>Frontend:</a:t>
            </a:r>
          </a:p>
          <a:p>
            <a:r>
              <a:rPr lang="en-IN" sz="2800"/>
              <a:t>1 . HTML5</a:t>
            </a:r>
          </a:p>
          <a:p>
            <a:r>
              <a:rPr lang="en-IN" sz="2800"/>
              <a:t>2 . CSS3</a:t>
            </a:r>
          </a:p>
          <a:p>
            <a:r>
              <a:rPr lang="en-IN" sz="2800"/>
              <a:t>3 . JavaScript</a:t>
            </a:r>
          </a:p>
          <a:p>
            <a:endParaRPr lang="en-IN" sz="2800"/>
          </a:p>
          <a:p>
            <a:r>
              <a:rPr lang="en-US" sz="2800">
                <a:solidFill>
                  <a:srgbClr val="0033CC"/>
                </a:solidFill>
              </a:rPr>
              <a:t>Backend:</a:t>
            </a:r>
          </a:p>
          <a:p>
            <a:r>
              <a:rPr lang="en-IN" sz="2800"/>
              <a:t>1 . PHP </a:t>
            </a:r>
          </a:p>
          <a:p>
            <a:r>
              <a:rPr lang="en-IN" sz="2800"/>
              <a:t>2 . MySQL</a:t>
            </a:r>
          </a:p>
          <a:p>
            <a:r>
              <a:rPr lang="en-IN" sz="2800"/>
              <a:t>3 . Apache</a:t>
            </a:r>
          </a:p>
          <a:p>
            <a:endParaRPr lang="en-IN" sz="2800"/>
          </a:p>
          <a:p>
            <a:r>
              <a:rPr lang="en-US" sz="2800">
                <a:solidFill>
                  <a:srgbClr val="0033CC"/>
                </a:solidFill>
              </a:rPr>
              <a:t>Tools:</a:t>
            </a:r>
            <a:endParaRPr lang="en-IN" sz="2800"/>
          </a:p>
          <a:p>
            <a:r>
              <a:rPr lang="en-IN" sz="2800"/>
              <a:t>1 . XAMPP Server</a:t>
            </a:r>
          </a:p>
          <a:p>
            <a:r>
              <a:rPr lang="en-IN" sz="2800"/>
              <a:t>2 . Visual Studio Code</a:t>
            </a:r>
          </a:p>
          <a:p>
            <a:endParaRPr lang="en-IN" sz="2800"/>
          </a:p>
          <a:p>
            <a:r>
              <a:rPr lang="en-US" sz="2800">
                <a:solidFill>
                  <a:srgbClr val="0033CC"/>
                </a:solidFill>
              </a:rPr>
              <a:t>Software Requirements</a:t>
            </a:r>
            <a:r>
              <a:rPr lang="en-US" sz="2800"/>
              <a:t>:</a:t>
            </a:r>
          </a:p>
          <a:p>
            <a:r>
              <a:rPr lang="en-IN" sz="2800"/>
              <a:t>1 . Windows</a:t>
            </a:r>
          </a:p>
          <a:p>
            <a:r>
              <a:rPr lang="en-IN" sz="2800"/>
              <a:t>2 . Web Browser</a:t>
            </a: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7848302"/>
          </a:xfrm>
          <a:prstGeom prst="rect">
            <a:avLst/>
          </a:prstGeom>
          <a:noFill/>
        </p:spPr>
        <p:txBody>
          <a:bodyPr wrap="square" rtlCol="0">
            <a:spAutoFit/>
          </a:bodyPr>
          <a:lstStyle/>
          <a:p>
            <a:r>
              <a:rPr lang="en-IN" sz="2800" b="1" dirty="0"/>
              <a:t>Module 1: User Management</a:t>
            </a:r>
          </a:p>
          <a:p>
            <a:r>
              <a:rPr lang="en-IN" sz="2800" dirty="0"/>
              <a:t>Handles user registration, login, and authentication.</a:t>
            </a:r>
          </a:p>
          <a:p>
            <a:endParaRPr lang="en-IN" sz="2800" dirty="0"/>
          </a:p>
          <a:p>
            <a:r>
              <a:rPr lang="en-IN" sz="2800" b="1" dirty="0"/>
              <a:t>Module 2: Core Event Management</a:t>
            </a:r>
          </a:p>
          <a:p>
            <a:r>
              <a:rPr lang="en-US" sz="2800" dirty="0"/>
              <a:t>Allows Admin to create, update, and delete events</a:t>
            </a:r>
            <a:r>
              <a:rPr lang="en-IN" sz="2800" dirty="0"/>
              <a:t>.</a:t>
            </a:r>
          </a:p>
          <a:p>
            <a:endParaRPr lang="en-IN" sz="2800" dirty="0"/>
          </a:p>
          <a:p>
            <a:r>
              <a:rPr lang="en-IN" sz="2800" b="1" dirty="0"/>
              <a:t>Module 3: Real-Time Synchronization Module</a:t>
            </a:r>
          </a:p>
          <a:p>
            <a:r>
              <a:rPr lang="en-US" sz="2800" dirty="0"/>
              <a:t>Uses WebSocket to send event updates instantly to all users</a:t>
            </a:r>
            <a:r>
              <a:rPr lang="en-IN" sz="2800" dirty="0"/>
              <a:t>.</a:t>
            </a:r>
          </a:p>
          <a:p>
            <a:endParaRPr lang="en-IN" sz="2800" dirty="0"/>
          </a:p>
          <a:p>
            <a:r>
              <a:rPr lang="en-IN" sz="2800" b="1" dirty="0"/>
              <a:t>Module 4: Database Management</a:t>
            </a:r>
          </a:p>
          <a:p>
            <a:r>
              <a:rPr lang="en-US" sz="2800" dirty="0"/>
              <a:t>Stores event details and user information securely</a:t>
            </a:r>
            <a:r>
              <a:rPr lang="en-IN" sz="2800" dirty="0"/>
              <a:t>.</a:t>
            </a:r>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523220"/>
          </a:xfrm>
          <a:prstGeom prst="rect">
            <a:avLst/>
          </a:prstGeom>
          <a:noFill/>
        </p:spPr>
        <p:txBody>
          <a:bodyPr wrap="square" rtlCol="0">
            <a:spAutoFit/>
          </a:bodyPr>
          <a:lstStyle/>
          <a:p>
            <a:pPr marL="457200" indent="-457200">
              <a:buFontTx/>
              <a:buChar char="-"/>
            </a:pPr>
            <a:endParaRPr lang="en-IN" sz="2800" dirty="0"/>
          </a:p>
        </p:txBody>
      </p:sp>
      <p:pic>
        <p:nvPicPr>
          <p:cNvPr id="5" name="Picture 4">
            <a:extLst>
              <a:ext uri="{FF2B5EF4-FFF2-40B4-BE49-F238E27FC236}">
                <a16:creationId xmlns:a16="http://schemas.microsoft.com/office/drawing/2014/main" id="{D9BD6D94-11AC-996E-FAD4-0610831628C2}"/>
              </a:ext>
            </a:extLst>
          </p:cNvPr>
          <p:cNvPicPr>
            <a:picLocks noChangeAspect="1"/>
          </p:cNvPicPr>
          <p:nvPr/>
        </p:nvPicPr>
        <p:blipFill>
          <a:blip r:embed="rId3"/>
          <a:stretch>
            <a:fillRect/>
          </a:stretch>
        </p:blipFill>
        <p:spPr>
          <a:xfrm>
            <a:off x="1826127" y="2015464"/>
            <a:ext cx="15599524" cy="7472041"/>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91D32D06-4218-3FAD-9489-02B33B8EEE22}"/>
              </a:ext>
            </a:extLst>
          </p:cNvPr>
          <p:cNvPicPr>
            <a:picLocks noChangeAspect="1"/>
          </p:cNvPicPr>
          <p:nvPr/>
        </p:nvPicPr>
        <p:blipFill>
          <a:blip r:embed="rId3"/>
          <a:stretch>
            <a:fillRect/>
          </a:stretch>
        </p:blipFill>
        <p:spPr>
          <a:xfrm>
            <a:off x="1860055" y="1982349"/>
            <a:ext cx="16416937" cy="6496542"/>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6" name="Picture 5">
            <a:extLst>
              <a:ext uri="{FF2B5EF4-FFF2-40B4-BE49-F238E27FC236}">
                <a16:creationId xmlns:a16="http://schemas.microsoft.com/office/drawing/2014/main" id="{EF1145C9-8DB7-CAB6-EB3A-A463ECA5A68E}"/>
              </a:ext>
            </a:extLst>
          </p:cNvPr>
          <p:cNvPicPr>
            <a:picLocks noChangeAspect="1"/>
          </p:cNvPicPr>
          <p:nvPr/>
        </p:nvPicPr>
        <p:blipFill>
          <a:blip r:embed="rId3"/>
          <a:stretch>
            <a:fillRect/>
          </a:stretch>
        </p:blipFill>
        <p:spPr>
          <a:xfrm>
            <a:off x="1870048" y="1888642"/>
            <a:ext cx="16228701" cy="6612332"/>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3795CA3-5560-C27B-3036-534CCB792119}"/>
              </a:ext>
            </a:extLst>
          </p:cNvPr>
          <p:cNvSpPr txBox="1"/>
          <p:nvPr/>
        </p:nvSpPr>
        <p:spPr>
          <a:xfrm>
            <a:off x="2043686" y="2247900"/>
            <a:ext cx="19024988" cy="6986528"/>
          </a:xfrm>
          <a:prstGeom prst="rect">
            <a:avLst/>
          </a:prstGeom>
          <a:noFill/>
        </p:spPr>
        <p:txBody>
          <a:bodyPr wrap="square">
            <a:spAutoFit/>
          </a:bodyPr>
          <a:lstStyle/>
          <a:p>
            <a:r>
              <a:rPr lang="en-US" sz="3200" b="1" dirty="0">
                <a:solidFill>
                  <a:srgbClr val="0033CC"/>
                </a:solidFill>
              </a:rPr>
              <a:t>Advantages:</a:t>
            </a:r>
          </a:p>
          <a:p>
            <a:endParaRPr lang="en-US" sz="3200" b="1" dirty="0">
              <a:solidFill>
                <a:srgbClr val="0033CC"/>
              </a:solidFill>
            </a:endParaRPr>
          </a:p>
          <a:p>
            <a:r>
              <a:rPr lang="en-IN" sz="3200" dirty="0"/>
              <a:t>1 . Instant Event Updates.</a:t>
            </a:r>
          </a:p>
          <a:p>
            <a:r>
              <a:rPr lang="en-IN" sz="3200" dirty="0"/>
              <a:t>2 . No Manual Page Refresh.</a:t>
            </a:r>
          </a:p>
          <a:p>
            <a:r>
              <a:rPr lang="en-IN" sz="3200" dirty="0"/>
              <a:t>3 . Prevents Scheduling Conflicts.</a:t>
            </a:r>
          </a:p>
          <a:p>
            <a:r>
              <a:rPr lang="en-IN" sz="3200" dirty="0"/>
              <a:t>4 . Improved User Experience.</a:t>
            </a:r>
          </a:p>
          <a:p>
            <a:r>
              <a:rPr lang="en-IN" sz="3200" dirty="0"/>
              <a:t>5 . Scalable System.</a:t>
            </a:r>
          </a:p>
          <a:p>
            <a:endParaRPr lang="en-IN" sz="3200" b="1" dirty="0">
              <a:solidFill>
                <a:srgbClr val="0033CC"/>
              </a:solidFill>
            </a:endParaRPr>
          </a:p>
          <a:p>
            <a:r>
              <a:rPr lang="en-US" sz="3200" b="1" dirty="0">
                <a:solidFill>
                  <a:srgbClr val="0033CC"/>
                </a:solidFill>
              </a:rPr>
              <a:t>Limitations:</a:t>
            </a:r>
          </a:p>
          <a:p>
            <a:endParaRPr lang="en-US" sz="3200" b="1" dirty="0">
              <a:solidFill>
                <a:srgbClr val="0033CC"/>
              </a:solidFill>
            </a:endParaRPr>
          </a:p>
          <a:p>
            <a:r>
              <a:rPr lang="en-IN" sz="3200" dirty="0"/>
              <a:t>1 . Requires Stable Internet Connection.</a:t>
            </a:r>
          </a:p>
          <a:p>
            <a:r>
              <a:rPr lang="en-IN" sz="3200" dirty="0"/>
              <a:t>2 . WebSocket Configuration Complexity.</a:t>
            </a:r>
          </a:p>
          <a:p>
            <a:r>
              <a:rPr lang="en-US" sz="3200" dirty="0"/>
              <a:t>3 . Security Challenges in Real-Time Systems.</a:t>
            </a:r>
          </a:p>
          <a:p>
            <a:r>
              <a:rPr lang="en-IN" sz="3200" dirty="0"/>
              <a:t>4 . Server Load Handling Required.</a:t>
            </a:r>
            <a:endParaRPr lang="en-US" sz="3200" b="1" dirty="0">
              <a:solidFill>
                <a:srgbClr val="0033CC"/>
              </a:solidFill>
            </a:endParaRPr>
          </a:p>
        </p:txBody>
      </p:sp>
    </p:spTree>
    <p:extLst>
      <p:ext uri="{BB962C8B-B14F-4D97-AF65-F5344CB8AC3E}">
        <p14:creationId xmlns:p14="http://schemas.microsoft.com/office/powerpoint/2010/main" val="18389767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298</TotalTime>
  <Words>842</Words>
  <Application>Microsoft Office PowerPoint</Application>
  <PresentationFormat>Custom</PresentationFormat>
  <Paragraphs>235</Paragraphs>
  <Slides>14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Gotham</vt:lpstr>
      <vt:lpstr>Cambria</vt:lpstr>
      <vt:lpstr>Arial</vt:lpstr>
      <vt:lpstr>Times New Roman</vt:lpstr>
      <vt:lpstr>Gotham Bold Italics</vt:lpstr>
      <vt:lpstr>Bookman Old Style</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nuthan poreddy</dc:creator>
  <cp:lastModifiedBy>nuthan poreddy</cp:lastModifiedBy>
  <cp:revision>12</cp:revision>
  <dcterms:created xsi:type="dcterms:W3CDTF">2006-08-16T00:00:00Z</dcterms:created>
  <dcterms:modified xsi:type="dcterms:W3CDTF">2026-05-06T08:22:37Z</dcterms:modified>
  <dc:identifier>DAHCaYqJ9OU</dc:identifier>
</cp:coreProperties>
</file>